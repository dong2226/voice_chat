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91" autoAdjust="0"/>
    <p:restoredTop sz="94607" autoAdjust="0"/>
  </p:normalViewPr>
  <p:slideViewPr>
    <p:cSldViewPr snapToGrid="0" showGuides="1">
      <p:cViewPr varScale="1">
        <p:scale>
          <a:sx n="104" d="100"/>
          <a:sy n="104" d="100"/>
        </p:scale>
        <p:origin x="540" y="76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121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093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申报人：傅海遥，林澍栋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 2026.8.5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月度激励</a:t>
            </a:r>
            <a:r>
              <a:rPr lang="en-US" altLang="zh-CN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-</a:t>
            </a: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星光应用申报</a:t>
            </a:r>
            <a:endParaRPr lang="en-US" altLang="zh-CN" sz="4800" b="1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1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多人语音英语学习软件</a:t>
            </a:r>
            <a:endParaRPr lang="en-US" altLang="zh-CN" sz="2800" dirty="0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681315" y="2497021"/>
            <a:ext cx="11510685" cy="2174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所以做这款APP，是因为我们深切感受到传统英语学习违背了语言的社交本质。当背单词沦为孤立的刷题，当学习过程缺乏即时的陪伴与反馈，枯燥感和孤独感就成了最大的敌人。我们不想再造一个冰冷的工具，而是打造一个能随时进入的“英语社交空间”。在这里，词汇学习与轻松对话无缝融合，每一次互动都有实时的回应和共鸣。我们希望通过重构学习场景，让坚持不再依赖意志力，而是源于交流的乐趣，真正解决学生“学不下去”的深层痛点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681315" y="4725549"/>
            <a:ext cx="10343244" cy="1781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用鸿蒙多设备协同能力解决真实学习场景问题，集成了音频、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WebSocket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、网络通信、存储等多项鸿蒙特性，通过多设备间的状态同步突出多机协同的特点，每个房间都是一件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高频小事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：一次协同学习对话。</a:t>
            </a: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681316" y="769414"/>
            <a:ext cx="8516472" cy="1661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队长姓名：傅海遥 深圳技术大学 计算机科学与技术专业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团队成员姓名：林澍栋 深圳技术大学 计算机科学与技术专业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指导老师：李菊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联络人：傅海遥 手机号：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15818599717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微信号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xingzhiye502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5409C45-15F1-F412-0ED0-AF0FB46DA6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74" y="2091906"/>
            <a:ext cx="3354070" cy="14947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CB8219-EF0D-A5F5-A809-8E1848E2F53C}"/>
              </a:ext>
            </a:extLst>
          </p:cNvPr>
          <p:cNvSpPr txBox="1"/>
          <p:nvPr/>
        </p:nvSpPr>
        <p:spPr>
          <a:xfrm>
            <a:off x="1175664" y="4437547"/>
            <a:ext cx="27840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依托鸿蒙分布式软总线能力，高效采集麦克风输入的</a:t>
            </a:r>
            <a:r>
              <a:rPr lang="en-US" altLang="zh-CN" sz="1600" kern="100" dirty="0">
                <a:effectLst/>
                <a:latin typeface="+mn-ea"/>
                <a:cs typeface="Times New Roman" panose="02020603050405020304" pitchFamily="18" charset="0"/>
              </a:rPr>
              <a:t>PCM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音频原始数据，经由云端服务器进行实时转发，确保多端之间低延迟、高质量的语音交互畅通无阻。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0FA77-3F82-220D-8EE2-CDB506C5D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692" y="1755991"/>
            <a:ext cx="2380615" cy="2166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98F8BD1-EAEE-DC19-F5A5-7C3AECF20A6D}"/>
              </a:ext>
            </a:extLst>
          </p:cNvPr>
          <p:cNvSpPr txBox="1"/>
          <p:nvPr/>
        </p:nvSpPr>
        <p:spPr>
          <a:xfrm>
            <a:off x="4821660" y="4359025"/>
            <a:ext cx="25486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kern="100" dirty="0">
                <a:latin typeface="+mn-ea"/>
                <a:cs typeface="Times New Roman" panose="02020603050405020304" pitchFamily="18" charset="0"/>
              </a:rPr>
              <a:t>集中统一管理全部词库数据、积分记录与排行榜信息，借助</a:t>
            </a:r>
            <a:r>
              <a:rPr lang="zh-CN" altLang="zh-CN" sz="1600" dirty="0">
                <a:latin typeface="+mn-ea"/>
              </a:rPr>
              <a:t>鸿蒙多设备协同</a:t>
            </a:r>
            <a:r>
              <a:rPr lang="zh-CN" altLang="en-US" sz="1600" dirty="0">
                <a:latin typeface="+mn-ea"/>
              </a:rPr>
              <a:t>功能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保证所有接入设备显示一致，让每一位参与者都能在多人协同场景中同步学习进度。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65CDF0-237A-F15D-4709-D3EC23EE7C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779" y="1684236"/>
            <a:ext cx="3086735" cy="2310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7528F97-6982-9E97-BBF0-12F0D60E438E}"/>
              </a:ext>
            </a:extLst>
          </p:cNvPr>
          <p:cNvSpPr txBox="1"/>
          <p:nvPr/>
        </p:nvSpPr>
        <p:spPr>
          <a:xfrm>
            <a:off x="8619183" y="4437547"/>
            <a:ext cx="25879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引入先进的</a:t>
            </a:r>
            <a:r>
              <a:rPr lang="en-US" altLang="zh-CN" sz="1600" kern="100" dirty="0">
                <a:effectLst/>
                <a:latin typeface="+mn-ea"/>
                <a:cs typeface="Times New Roman" panose="02020603050405020304" pitchFamily="18" charset="0"/>
              </a:rPr>
              <a:t>AI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智能判题引擎与</a:t>
            </a:r>
            <a:r>
              <a:rPr lang="en-US" altLang="zh-CN" sz="1600" kern="100" dirty="0">
                <a:effectLst/>
                <a:latin typeface="+mn-ea"/>
                <a:cs typeface="Times New Roman" panose="02020603050405020304" pitchFamily="18" charset="0"/>
              </a:rPr>
              <a:t>AI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助教功能，对学生答案进行自动批改和解析，同时提供针对性的学习建议，使</a:t>
            </a:r>
            <a:r>
              <a:rPr lang="en-US" altLang="zh-CN" sz="1600" kern="100" dirty="0">
                <a:effectLst/>
                <a:latin typeface="+mn-ea"/>
                <a:cs typeface="Times New Roman" panose="02020603050405020304" pitchFamily="18" charset="0"/>
              </a:rPr>
              <a:t>AI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</a:rPr>
              <a:t>真正成为辅助教学的有效工具。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7C12-563B-D0A9-D7CB-FF3C8181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D12DF2F3-DD94-1217-A565-ED51AD82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C42E1F31-2FDB-1B9A-E276-7949DB4EB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/>
          </a:p>
        </p:txBody>
      </p:sp>
      <p:sp>
        <p:nvSpPr>
          <p:cNvPr id="28" name="文本框 3">
            <a:extLst>
              <a:ext uri="{FF2B5EF4-FFF2-40B4-BE49-F238E27FC236}">
                <a16:creationId xmlns:a16="http://schemas.microsoft.com/office/drawing/2014/main" id="{6C0A19F9-E38C-2927-BAC3-86A07C146A5A}"/>
              </a:ext>
            </a:extLst>
          </p:cNvPr>
          <p:cNvSpPr txBox="1"/>
          <p:nvPr/>
        </p:nvSpPr>
        <p:spPr>
          <a:xfrm>
            <a:off x="514864" y="1109012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77D6A0-A741-A5FF-D336-5BF246471232}"/>
              </a:ext>
            </a:extLst>
          </p:cNvPr>
          <p:cNvSpPr txBox="1"/>
          <p:nvPr/>
        </p:nvSpPr>
        <p:spPr>
          <a:xfrm>
            <a:off x="514864" y="1490270"/>
            <a:ext cx="11677136" cy="421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1200" b="1" dirty="0">
                <a:effectLst/>
                <a:latin typeface="Consolas" panose="020B0609020204030204" pitchFamily="49" charset="0"/>
              </a:rPr>
              <a:t>1. 多人实时语音协同词汇学习模式</a:t>
            </a:r>
            <a:endParaRPr lang="zh-CN" altLang="zh-CN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effectLst/>
                <a:latin typeface="Consolas" panose="020B0609020204030204" pitchFamily="49" charset="0"/>
              </a:rPr>
              <a:t>将实时语音通话与词汇答题游戏深度融合，多人边语音交流边抢答词汇，通过服务端统一计分与排行榜实时同步，营造沉浸式竞争学习氛围，从根源解决单人背单词枯燥低效的痛点。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1" dirty="0">
                <a:effectLst/>
                <a:latin typeface="Consolas" panose="020B0609020204030204" pitchFamily="49" charset="0"/>
              </a:rPr>
              <a:t>2. 双房间模式差异化设计</a:t>
            </a: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0" dirty="0">
                <a:effectLst/>
                <a:latin typeface="Consolas" panose="020B0609020204030204" pitchFamily="49" charset="0"/>
              </a:rPr>
              <a:t>英语学习房聚焦多人协同词汇问答，支持词库管理、进度追踪、全员计分；AI 对话房提供智能聊天陪练，覆盖从应试词汇巩固到自由口语对话训练的不同学习阶段需求，一 App 多用。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1" dirty="0">
                <a:effectLst/>
                <a:latin typeface="Consolas" panose="020B0609020204030204" pitchFamily="49" charset="0"/>
              </a:rPr>
              <a:t>3. 房主词库管理与全员同步机制</a:t>
            </a: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0" dirty="0">
                <a:effectLst/>
                <a:latin typeface="Consolas" panose="020B0609020204030204" pitchFamily="49" charset="0"/>
              </a:rPr>
              <a:t>创建者拥有词库增删改查专属权限，可自定义单词及释义，适配班级教学或小组学习的个性化内容需求。通过 2.5 秒轮询 + WebSocket 推送双通道，确保所有设备词库状态实时一致。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1" dirty="0">
                <a:effectLst/>
                <a:latin typeface="Consolas" panose="020B0609020204030204" pitchFamily="49" charset="0"/>
              </a:rPr>
              <a:t>4. 低延迟稳定音频传输引擎</a:t>
            </a: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0" dirty="0">
                <a:effectLst/>
                <a:latin typeface="Consolas" panose="020B0609020204030204" pitchFamily="49" charset="0"/>
              </a:rPr>
              <a:t>自研 PcmByteQueue 1.5MB 缓冲队列平衡延迟与流畅，8 字节 relayId 帧头过滤自身音频实现回声消除，发送端 10 帧限流防堆积，指数退避最多 6 次自动重连保障弱网可用。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1" dirty="0">
                <a:effectLst/>
                <a:latin typeface="Consolas" panose="020B0609020204030204" pitchFamily="49" charset="0"/>
              </a:rPr>
              <a:t>5. 渐进式答题反馈与容错设计</a:t>
            </a: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0" dirty="0">
                <a:effectLst/>
                <a:latin typeface="Consolas" panose="020B0609020204030204" pitchFamily="49" charset="0"/>
              </a:rPr>
              <a:t>每题配置 3 次作答机会，答错仅提示剩余次数不直接暴露答案，答对即时加分并揭示释义，额外提供「我不知道」跳过机制，在保持学习挑战性的同时避免用户频繁受挫。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zh-CN" sz="1200" b="1" dirty="0">
                <a:effectLst/>
                <a:latin typeface="Consolas" panose="020B0609020204030204" pitchFamily="49" charset="0"/>
              </a:rPr>
              <a:t>6. 极简房间号一键分享加入</a:t>
            </a:r>
            <a:endParaRPr lang="zh-CN" altLang="zh-CN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effectLst/>
                <a:latin typeface="Consolas" panose="020B0609020204030204" pitchFamily="49" charset="0"/>
              </a:rPr>
              <a:t>6 位纯数字房间号降低记忆负担，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使用鸿蒙</a:t>
            </a:r>
            <a:r>
              <a:rPr lang="zh-CN" altLang="zh-CN" sz="1200" b="0" dirty="0">
                <a:effectLst/>
                <a:latin typeface="Consolas" panose="020B0609020204030204" pitchFamily="49" charset="0"/>
              </a:rPr>
              <a:t>剪贴板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API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实现房间号</a:t>
            </a:r>
            <a:r>
              <a:rPr lang="zh-CN" altLang="zh-CN" sz="1200" b="0" dirty="0">
                <a:effectLst/>
                <a:latin typeface="Consolas" panose="020B0609020204030204" pitchFamily="49" charset="0"/>
              </a:rPr>
              <a:t>复制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功能</a:t>
            </a:r>
            <a:r>
              <a:rPr lang="zh-CN" altLang="en-US" sz="1200" dirty="0">
                <a:latin typeface="Consolas" panose="020B0609020204030204" pitchFamily="49" charset="0"/>
              </a:rPr>
              <a:t>，</a:t>
            </a:r>
            <a:r>
              <a:rPr lang="zh-CN" altLang="zh-CN" sz="1200" b="0" dirty="0">
                <a:effectLst/>
                <a:latin typeface="Consolas" panose="020B0609020204030204" pitchFamily="49" charset="0"/>
              </a:rPr>
              <a:t>一键分享，无需复杂邀请流程，输入号码即刻进入房间，大幅降低多人协同学习的组织门槛。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CN" altLang="zh-C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90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/>
          </a:p>
        </p:txBody>
      </p:sp>
      <p:sp>
        <p:nvSpPr>
          <p:cNvPr id="29" name="文本框 4"/>
          <p:cNvSpPr txBox="1"/>
          <p:nvPr/>
        </p:nvSpPr>
        <p:spPr>
          <a:xfrm>
            <a:off x="350079" y="727356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782439-6E13-E21F-8EDF-B03D2D4A508C}"/>
              </a:ext>
            </a:extLst>
          </p:cNvPr>
          <p:cNvSpPr txBox="1"/>
          <p:nvPr/>
        </p:nvSpPr>
        <p:spPr>
          <a:xfrm>
            <a:off x="300983" y="1108614"/>
            <a:ext cx="12089443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1. 全链路音频采集播放体系（AudioCapturer / AudioRenderer）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采用 16kHz 单声道 S16LE 原始 PCM 格式，SourceType 选择 SOURCE_TYPE_VOICE_COMMUNICATION 以激活系统级回声消除与降噪链路，配合 AudioRoutingManager 动态切换扬声器/听筒输出设备。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2. WebSocket 双向实时通信通道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基于 @ohos.net.webSocket 建立长连接，文本帧承载 session 会话分配、members 成员列表推送、mic 开关状态同步等控制信令，二进制帧承载带 8 字节 relayId 帧头的 PCM 音频流，统一 dispatch 分发。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3. Preferences 轻量持久化会话存储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通过 @kit.ArkData.preferences 以 key-value 形式存储用户 token、userId、昵称、头像 URL，实现跨页面会话状态保持与 App 重启后自动登录，flush 异步落盘确保数据写入安全。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4. 运行时权限动态申请体系（AbilityAccessCtrl）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麦克风权限按需触发申请，开麦前通过 abilityAccessCtrl.createAtManager().requestPermissionsFromUser 弹窗请求用户授权，配合 module.json5 中声明的 inuse 使用场景说明，符合鸿蒙权限最佳实践。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5. 统一 HTTP 网络请求封装（@kit.NetworkKit）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所有业务 API 统一使用 http.createHttp() 创建请求对象，Bearer Token 鉴权头注入，15~60 秒超时分层配置，统一异常捕获与格式转换，请求结束自动 destroy 释放连接避免资源泄漏。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6. 相册选图与文件读写完整链路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photoAccessHelper.PhotoViewPicker 打开系统相册单选图片，fileIo.statSync 获取文件大小后分配缓冲并 openSync + readSync 同步读取字节，util.Base64Helper.encodeToStringSync 转码后调用上传接口完成头像设置。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7. 系统剪贴板分享能力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@ohos.pasteboard.createPlainTextData 封装纯文本房间号数据，getSystemPasteboard().setData 写入全局剪贴板，用户可无缝粘贴至微信、短信等其他社交 App 完成房间邀请传播。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8. ArkUI 路由导航与页面状态管理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四级页面栈（登录→注册→首页→房间）通过 @kit.ArkUI.router 管理，replaceUrl 保持认证流程栈简洁，pushUrl 携带 roomId、isHost、nickname、roomType 等路由参数，aboutToAppear 触发会话自动恢复。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9. UI 线程安全异步回调桥接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所有 WebSocket 与音频回调中涉及 @State 变量修改的逻辑，统一通过 getUIContext().runScopedTask(task) 切回 UI 线程执行，严格遵守鸿蒙跨线程状态更新规范，杜绝界面状态不一致。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100" b="1" dirty="0">
                <a:effectLst/>
                <a:latin typeface="Consolas" panose="020B0609020204030204" pitchFamily="49" charset="0"/>
              </a:rPr>
              <a:t>10. 应用数据备份扩展能力（EntryBackupAbility）</a:t>
            </a:r>
            <a:endParaRPr lang="zh-CN" altLang="zh-CN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100" b="0" dirty="0">
                <a:effectLst/>
                <a:latin typeface="Consolas" panose="020B0609020204030204" pitchFamily="49" charset="0"/>
              </a:rPr>
              <a:t>声明 backup 类型 ExtensionAbility，关联 ohos.extension.backup 元数据指向 backup_config 配置文件，支持鸿蒙系统级应用数据备份与恢复，满足完整性审核要求。</a:t>
            </a:r>
          </a:p>
          <a:p>
            <a:pPr>
              <a:lnSpc>
                <a:spcPts val="1425"/>
              </a:lnSpc>
              <a:buNone/>
            </a:pPr>
            <a:br>
              <a:rPr lang="zh-CN" altLang="zh-C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CN" altLang="zh-C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  <a:endParaRPr/>
          </a:p>
        </p:txBody>
      </p:sp>
      <p:sp>
        <p:nvSpPr>
          <p:cNvPr id="33" name="文本框 3"/>
          <p:cNvSpPr txBox="1"/>
          <p:nvPr/>
        </p:nvSpPr>
        <p:spPr>
          <a:xfrm>
            <a:off x="478416" y="1246001"/>
            <a:ext cx="3836895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用户范围、用户反馈、商业潜力等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AF0DE68-BC7E-06B3-3465-7AF8A6914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42712"/>
              </p:ext>
            </p:extLst>
          </p:nvPr>
        </p:nvGraphicFramePr>
        <p:xfrm>
          <a:off x="478416" y="1797050"/>
          <a:ext cx="3608768" cy="3263900"/>
        </p:xfrm>
        <a:graphic>
          <a:graphicData uri="http://schemas.openxmlformats.org/drawingml/2006/table">
            <a:tbl>
              <a:tblPr/>
              <a:tblGrid>
                <a:gridCol w="1804384">
                  <a:extLst>
                    <a:ext uri="{9D8B030D-6E8A-4147-A177-3AD203B41FA5}">
                      <a16:colId xmlns:a16="http://schemas.microsoft.com/office/drawing/2014/main" val="4055263433"/>
                    </a:ext>
                  </a:extLst>
                </a:gridCol>
                <a:gridCol w="1804384">
                  <a:extLst>
                    <a:ext uri="{9D8B030D-6E8A-4147-A177-3AD203B41FA5}">
                      <a16:colId xmlns:a16="http://schemas.microsoft.com/office/drawing/2014/main" val="4281011950"/>
                    </a:ext>
                  </a:extLst>
                </a:gridCol>
              </a:tblGrid>
              <a:tr h="2998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用户群体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典型场景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389094"/>
                  </a:ext>
                </a:extLst>
              </a:tr>
              <a:tr h="5109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大学生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四六级词汇备考、宿舍学习小组、考研英语冲刺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553873"/>
                  </a:ext>
                </a:extLst>
              </a:tr>
              <a:tr h="5109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高中生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高考词汇巩固、班级线上自习、英语口语练习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757946"/>
                  </a:ext>
                </a:extLst>
              </a:tr>
              <a:tr h="5109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职场人士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商务英语充电、通勤碎片化学习、同事间互助学习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675395"/>
                  </a:ext>
                </a:extLst>
              </a:tr>
              <a:tr h="5109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语言培训机构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线上课堂互动、小班词汇打卡、课后作业监督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4137"/>
                  </a:ext>
                </a:extLst>
              </a:tr>
              <a:tr h="5109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教师 / 家教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25" b="0" dirty="0">
                          <a:effectLst/>
                          <a:latin typeface="quote-cjk-patch"/>
                        </a:rPr>
                        <a:t>远程词汇测验、分层教学词库、学习进度追踪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69501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FC445A5-EAD6-46CA-EBEF-BCF218840013}"/>
              </a:ext>
            </a:extLst>
          </p:cNvPr>
          <p:cNvSpPr txBox="1"/>
          <p:nvPr/>
        </p:nvSpPr>
        <p:spPr>
          <a:xfrm>
            <a:off x="478416" y="5230741"/>
            <a:ext cx="35057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buNone/>
            </a:pPr>
            <a:r>
              <a:rPr lang="zh-CN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设备覆盖</a:t>
            </a:r>
            <a:r>
              <a:rPr lang="zh-C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：鸿蒙手机、平板、2in1 笔记本、智能穿戴四类终端，适配多尺寸屏幕与交互方式。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AB9810-338C-2F6B-85EA-2612746CA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622505"/>
              </p:ext>
            </p:extLst>
          </p:nvPr>
        </p:nvGraphicFramePr>
        <p:xfrm>
          <a:off x="4575948" y="861131"/>
          <a:ext cx="3380418" cy="5312683"/>
        </p:xfrm>
        <a:graphic>
          <a:graphicData uri="http://schemas.openxmlformats.org/drawingml/2006/table">
            <a:tbl>
              <a:tblPr/>
              <a:tblGrid>
                <a:gridCol w="1433877">
                  <a:extLst>
                    <a:ext uri="{9D8B030D-6E8A-4147-A177-3AD203B41FA5}">
                      <a16:colId xmlns:a16="http://schemas.microsoft.com/office/drawing/2014/main" val="3895138504"/>
                    </a:ext>
                  </a:extLst>
                </a:gridCol>
                <a:gridCol w="1946541">
                  <a:extLst>
                    <a:ext uri="{9D8B030D-6E8A-4147-A177-3AD203B41FA5}">
                      <a16:colId xmlns:a16="http://schemas.microsoft.com/office/drawing/2014/main" val="529104747"/>
                    </a:ext>
                  </a:extLst>
                </a:gridCol>
              </a:tblGrid>
              <a:tr h="21979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反馈类型</a:t>
                      </a: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具体内容</a:t>
                      </a:r>
                    </a:p>
                  </a:txBody>
                  <a:tcPr marL="88128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688408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正面反馈</a:t>
                      </a: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多人抢答 + 实时排行榜显著提升学习参与感与坚持动力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704760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边语音边答题的模式弥补了线上教育缺失的真人互动感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878186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房间号分享机制极其便捷，小组活动组织成本极低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03331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房主自定义词库功能完美适配老师的个性化教学需求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981267"/>
                  </a:ext>
                </a:extLst>
              </a:tr>
              <a:tr h="54902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潜在改进方向</a:t>
                      </a: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预置词库覆盖范围需扩充（当前默认 CET-6，需补充考研/雅思/托福）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434867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AI 对话房能力偏基础，建议接入大模型并增加口语发音评测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7609"/>
                  </a:ext>
                </a:extLst>
              </a:tr>
              <a:tr h="3844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缺少历史学习记录、个人错题本等复盘功能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781121"/>
                  </a:ext>
                </a:extLst>
              </a:tr>
              <a:tr h="54902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9316" marR="88128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极端弱网场景下语音仍有卡顿空间，需进一步优化 Jitter Buffer 算法</a:t>
                      </a:r>
                    </a:p>
                  </a:txBody>
                  <a:tcPr marL="88128" marR="79316" marT="55080" marB="550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93609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32E9C1-D3DC-F3CC-F8D1-8C6654B23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226877"/>
              </p:ext>
            </p:extLst>
          </p:nvPr>
        </p:nvGraphicFramePr>
        <p:xfrm>
          <a:off x="8342073" y="861131"/>
          <a:ext cx="3746313" cy="5415640"/>
        </p:xfrm>
        <a:graphic>
          <a:graphicData uri="http://schemas.openxmlformats.org/drawingml/2006/table">
            <a:tbl>
              <a:tblPr/>
              <a:tblGrid>
                <a:gridCol w="1248771">
                  <a:extLst>
                    <a:ext uri="{9D8B030D-6E8A-4147-A177-3AD203B41FA5}">
                      <a16:colId xmlns:a16="http://schemas.microsoft.com/office/drawing/2014/main" val="166445577"/>
                    </a:ext>
                  </a:extLst>
                </a:gridCol>
                <a:gridCol w="1265355">
                  <a:extLst>
                    <a:ext uri="{9D8B030D-6E8A-4147-A177-3AD203B41FA5}">
                      <a16:colId xmlns:a16="http://schemas.microsoft.com/office/drawing/2014/main" val="3949932522"/>
                    </a:ext>
                  </a:extLst>
                </a:gridCol>
                <a:gridCol w="1232187">
                  <a:extLst>
                    <a:ext uri="{9D8B030D-6E8A-4147-A177-3AD203B41FA5}">
                      <a16:colId xmlns:a16="http://schemas.microsoft.com/office/drawing/2014/main" val="17768131"/>
                    </a:ext>
                  </a:extLst>
                </a:gridCol>
              </a:tblGrid>
              <a:tr h="186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阶段</a:t>
                      </a: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路径 / 方向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具体内容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96565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短期变现路径</a:t>
                      </a: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付费词库商城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四六级/考研/雅思/托福/BEC 等专项词库按次或订阅解锁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47307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AI 高级会员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大模型驱动的智能口语陪练、发音纠正、语法点评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539862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教师端增值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班级管理后台、批量学生账号、作业自动批改、学情报表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4501"/>
                  </a:ext>
                </a:extLst>
              </a:tr>
              <a:tr h="34985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中期平台化拓展</a:t>
                      </a: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多语种学习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从英语词汇拓展至日语、韩语等小语种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97170"/>
                  </a:ext>
                </a:extLst>
              </a:tr>
              <a:tr h="34985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直播授课模块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支持教师语音直播 + 互动答题双轨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75139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学习社交化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好友排行、学习打卡、成就勋章体系增强粘性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16627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长期生态价值</a:t>
                      </a: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鸿蒙多端协同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手机答题 + 平板看词 + 手表提醒，跨设备无缝接续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083418"/>
                  </a:ext>
                </a:extLst>
              </a:tr>
              <a:tr h="5130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鸿蒙元服务卡片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桌面快捷背单词、学习时长提醒、今日新词推送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51396"/>
                  </a:ext>
                </a:extLst>
              </a:tr>
              <a:tr h="67616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zh-CN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52832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9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生态先发优势</a:t>
                      </a:r>
                    </a:p>
                  </a:txBody>
                  <a:tcPr marL="58703" marR="58703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鸿蒙教育类应用仍处蓝海，先发优势可快速积累种子用户与口碑</a:t>
                      </a:r>
                    </a:p>
                  </a:txBody>
                  <a:tcPr marL="58703" marR="52832" marT="36689" marB="366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0462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月度应用之星申报</a:t>
            </a:r>
            <a:endParaRPr/>
          </a:p>
        </p:txBody>
      </p:sp>
      <p:sp>
        <p:nvSpPr>
          <p:cNvPr id="37" name="文本框 3"/>
          <p:cNvSpPr txBox="1"/>
          <p:nvPr/>
        </p:nvSpPr>
        <p:spPr>
          <a:xfrm>
            <a:off x="600634" y="1109012"/>
            <a:ext cx="8979784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如果团队中有人需要申报月度应用之星，请在此页说明此人所做的贡献。若无需申报，可忽略此页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3414</Words>
  <Application>Microsoft Office PowerPoint</Application>
  <PresentationFormat>宽屏</PresentationFormat>
  <Paragraphs>125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quote-cjk-patch</vt:lpstr>
      <vt:lpstr>Source Han Sans CN Normal</vt:lpstr>
      <vt:lpstr>等线</vt:lpstr>
      <vt:lpstr>宋体</vt:lpstr>
      <vt:lpstr>微软雅黑</vt:lpstr>
      <vt:lpstr>Arial</vt:lpstr>
      <vt:lpstr>Consolas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澍栋 林</cp:lastModifiedBy>
  <cp:revision>2</cp:revision>
  <dcterms:created xsi:type="dcterms:W3CDTF">2026-08-05T18:42:45Z</dcterms:created>
  <dcterms:modified xsi:type="dcterms:W3CDTF">2026-08-06T01:57:40Z</dcterms:modified>
</cp:coreProperties>
</file>